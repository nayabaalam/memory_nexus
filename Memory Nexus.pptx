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Roboto Bold" panose="020B0604020202020204" charset="0"/>
      <p:regular r:id="rId7"/>
    </p:embeddedFont>
    <p:embeddedFont>
      <p:font typeface="Bebas Neue Bold" panose="020B0604020202020204" charset="0"/>
      <p:regular r:id="rId8"/>
    </p:embeddedFon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Bebas Neue" panose="020B0604020202020204" charset="0"/>
      <p:regular r:id="rId13"/>
    </p:embeddedFont>
    <p:embeddedFont>
      <p:font typeface="Roboto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26" d="100"/>
          <a:sy n="26" d="100"/>
        </p:scale>
        <p:origin x="8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image" Target="../media/image50.png"/><Relationship Id="rId16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5" Type="http://schemas.openxmlformats.org/officeDocument/2006/relationships/image" Target="../media/image6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956440" y="5564382"/>
            <a:ext cx="11331560" cy="4514911"/>
          </a:xfrm>
          <a:custGeom>
            <a:avLst/>
            <a:gdLst/>
            <a:ahLst/>
            <a:cxnLst/>
            <a:rect l="l" t="t" r="r" b="b"/>
            <a:pathLst>
              <a:path w="11331560" h="4514911">
                <a:moveTo>
                  <a:pt x="0" y="0"/>
                </a:moveTo>
                <a:lnTo>
                  <a:pt x="11331560" y="0"/>
                </a:lnTo>
                <a:lnTo>
                  <a:pt x="11331560" y="4514910"/>
                </a:lnTo>
                <a:lnTo>
                  <a:pt x="0" y="45149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26842" y="2776725"/>
            <a:ext cx="1750048" cy="3017228"/>
          </a:xfrm>
          <a:custGeom>
            <a:avLst/>
            <a:gdLst/>
            <a:ahLst/>
            <a:cxnLst/>
            <a:rect l="l" t="t" r="r" b="b"/>
            <a:pathLst>
              <a:path w="1750048" h="3017228">
                <a:moveTo>
                  <a:pt x="0" y="0"/>
                </a:moveTo>
                <a:lnTo>
                  <a:pt x="1750048" y="0"/>
                </a:lnTo>
                <a:lnTo>
                  <a:pt x="1750048" y="3017228"/>
                </a:lnTo>
                <a:lnTo>
                  <a:pt x="0" y="30172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923818" y="2569017"/>
            <a:ext cx="1760986" cy="3224936"/>
          </a:xfrm>
          <a:custGeom>
            <a:avLst/>
            <a:gdLst/>
            <a:ahLst/>
            <a:cxnLst/>
            <a:rect l="l" t="t" r="r" b="b"/>
            <a:pathLst>
              <a:path w="1760986" h="3224936">
                <a:moveTo>
                  <a:pt x="0" y="0"/>
                </a:moveTo>
                <a:lnTo>
                  <a:pt x="1760986" y="0"/>
                </a:lnTo>
                <a:lnTo>
                  <a:pt x="1760986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892622" y="2995365"/>
            <a:ext cx="1968804" cy="3651284"/>
          </a:xfrm>
          <a:custGeom>
            <a:avLst/>
            <a:gdLst/>
            <a:ahLst/>
            <a:cxnLst/>
            <a:rect l="l" t="t" r="r" b="b"/>
            <a:pathLst>
              <a:path w="1968804" h="3651284">
                <a:moveTo>
                  <a:pt x="0" y="0"/>
                </a:moveTo>
                <a:lnTo>
                  <a:pt x="1968804" y="0"/>
                </a:lnTo>
                <a:lnTo>
                  <a:pt x="1968804" y="3651283"/>
                </a:lnTo>
                <a:lnTo>
                  <a:pt x="0" y="36512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706488" y="3640352"/>
            <a:ext cx="1750048" cy="3651284"/>
          </a:xfrm>
          <a:custGeom>
            <a:avLst/>
            <a:gdLst/>
            <a:ahLst/>
            <a:cxnLst/>
            <a:rect l="l" t="t" r="r" b="b"/>
            <a:pathLst>
              <a:path w="1750048" h="3651284">
                <a:moveTo>
                  <a:pt x="0" y="0"/>
                </a:moveTo>
                <a:lnTo>
                  <a:pt x="1750048" y="0"/>
                </a:lnTo>
                <a:lnTo>
                  <a:pt x="1750048" y="3651283"/>
                </a:lnTo>
                <a:lnTo>
                  <a:pt x="0" y="36512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226842" y="4493047"/>
            <a:ext cx="1968804" cy="3651284"/>
          </a:xfrm>
          <a:custGeom>
            <a:avLst/>
            <a:gdLst/>
            <a:ahLst/>
            <a:cxnLst/>
            <a:rect l="l" t="t" r="r" b="b"/>
            <a:pathLst>
              <a:path w="1968804" h="3651284">
                <a:moveTo>
                  <a:pt x="0" y="0"/>
                </a:moveTo>
                <a:lnTo>
                  <a:pt x="1968804" y="0"/>
                </a:lnTo>
                <a:lnTo>
                  <a:pt x="1968804" y="3651283"/>
                </a:lnTo>
                <a:lnTo>
                  <a:pt x="0" y="36512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798842" y="3848060"/>
            <a:ext cx="1968804" cy="3443576"/>
          </a:xfrm>
          <a:custGeom>
            <a:avLst/>
            <a:gdLst/>
            <a:ahLst/>
            <a:cxnLst/>
            <a:rect l="l" t="t" r="r" b="b"/>
            <a:pathLst>
              <a:path w="1968804" h="3443576">
                <a:moveTo>
                  <a:pt x="0" y="0"/>
                </a:moveTo>
                <a:lnTo>
                  <a:pt x="1968804" y="0"/>
                </a:lnTo>
                <a:lnTo>
                  <a:pt x="1968804" y="3443575"/>
                </a:lnTo>
                <a:lnTo>
                  <a:pt x="0" y="34435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2622220" y="5138034"/>
            <a:ext cx="1968804" cy="3224936"/>
          </a:xfrm>
          <a:custGeom>
            <a:avLst/>
            <a:gdLst/>
            <a:ahLst/>
            <a:cxnLst/>
            <a:rect l="l" t="t" r="r" b="b"/>
            <a:pathLst>
              <a:path w="1968804" h="3224936">
                <a:moveTo>
                  <a:pt x="0" y="0"/>
                </a:moveTo>
                <a:lnTo>
                  <a:pt x="1968804" y="0"/>
                </a:lnTo>
                <a:lnTo>
                  <a:pt x="1968804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77753" y="475459"/>
            <a:ext cx="5802858" cy="2060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12"/>
              </a:lnSpc>
            </a:pPr>
            <a:r>
              <a:rPr lang="en-US" sz="15412" b="1" dirty="0">
                <a:solidFill>
                  <a:srgbClr val="F8F8F8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MEMORY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7123" y="2145723"/>
            <a:ext cx="5865834" cy="2215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33"/>
              </a:lnSpc>
            </a:pPr>
            <a:r>
              <a:rPr lang="en-US" sz="16533" b="1" dirty="0" smtClean="0">
                <a:solidFill>
                  <a:srgbClr val="25B6FB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NEXUS</a:t>
            </a:r>
            <a:endParaRPr lang="en-US" sz="16533" b="1" dirty="0">
              <a:solidFill>
                <a:srgbClr val="25B6FB"/>
              </a:solidFill>
              <a:latin typeface="Bebas Neue Bold"/>
              <a:ea typeface="Bebas Neue Bold"/>
              <a:cs typeface="Bebas Neue Bold"/>
              <a:sym typeface="Bebas Neue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95592" y="4303720"/>
            <a:ext cx="7413415" cy="371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759" spc="-71" dirty="0">
                <a:solidFill>
                  <a:srgbClr val="99999F"/>
                </a:solidFill>
                <a:latin typeface="Bebas Neue"/>
                <a:ea typeface="Bebas Neue"/>
                <a:cs typeface="Bebas Neue"/>
                <a:sym typeface="Bebas Neue"/>
              </a:rPr>
              <a:t>Interactive 3D Memory Card Gaming Platform</a:t>
            </a:r>
          </a:p>
        </p:txBody>
      </p:sp>
      <p:sp>
        <p:nvSpPr>
          <p:cNvPr id="14" name="Freeform 14"/>
          <p:cNvSpPr/>
          <p:nvPr/>
        </p:nvSpPr>
        <p:spPr>
          <a:xfrm>
            <a:off x="645330" y="4919394"/>
            <a:ext cx="229694" cy="1082267"/>
          </a:xfrm>
          <a:custGeom>
            <a:avLst/>
            <a:gdLst/>
            <a:ahLst/>
            <a:cxnLst/>
            <a:rect l="l" t="t" r="r" b="b"/>
            <a:pathLst>
              <a:path w="229694" h="1082267">
                <a:moveTo>
                  <a:pt x="0" y="0"/>
                </a:moveTo>
                <a:lnTo>
                  <a:pt x="229694" y="0"/>
                </a:lnTo>
                <a:lnTo>
                  <a:pt x="229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048764" y="5141647"/>
            <a:ext cx="2279811" cy="382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2896" b="1">
                <a:solidFill>
                  <a:srgbClr val="25B6FB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MULTIPLE MODES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8282" y="5610024"/>
            <a:ext cx="2328083" cy="261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spc="-49">
                <a:solidFill>
                  <a:srgbClr val="B8B8B8"/>
                </a:solidFill>
                <a:latin typeface="Roboto"/>
                <a:ea typeface="Roboto"/>
                <a:cs typeface="Roboto"/>
                <a:sym typeface="Roboto"/>
              </a:rPr>
              <a:t>Classic • Rush • Zen</a:t>
            </a:r>
          </a:p>
        </p:txBody>
      </p:sp>
      <p:sp>
        <p:nvSpPr>
          <p:cNvPr id="17" name="Freeform 17"/>
          <p:cNvSpPr/>
          <p:nvPr/>
        </p:nvSpPr>
        <p:spPr>
          <a:xfrm>
            <a:off x="645330" y="5990729"/>
            <a:ext cx="229694" cy="1082267"/>
          </a:xfrm>
          <a:custGeom>
            <a:avLst/>
            <a:gdLst/>
            <a:ahLst/>
            <a:cxnLst/>
            <a:rect l="l" t="t" r="r" b="b"/>
            <a:pathLst>
              <a:path w="229694" h="1082267">
                <a:moveTo>
                  <a:pt x="0" y="0"/>
                </a:moveTo>
                <a:lnTo>
                  <a:pt x="229694" y="0"/>
                </a:lnTo>
                <a:lnTo>
                  <a:pt x="229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047127" y="6271210"/>
            <a:ext cx="2443529" cy="382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2896" b="1">
                <a:solidFill>
                  <a:srgbClr val="3F8CF8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MEMORY TRAINING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3063" y="6724527"/>
            <a:ext cx="2849923" cy="261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spc="-49">
                <a:solidFill>
                  <a:srgbClr val="B8B8B8"/>
                </a:solidFill>
                <a:latin typeface="Roboto"/>
                <a:ea typeface="Roboto"/>
                <a:cs typeface="Roboto"/>
                <a:sym typeface="Roboto"/>
              </a:rPr>
              <a:t>Match • Focus • Improve</a:t>
            </a:r>
          </a:p>
        </p:txBody>
      </p:sp>
      <p:sp>
        <p:nvSpPr>
          <p:cNvPr id="20" name="Freeform 20"/>
          <p:cNvSpPr/>
          <p:nvPr/>
        </p:nvSpPr>
        <p:spPr>
          <a:xfrm>
            <a:off x="645330" y="7280704"/>
            <a:ext cx="229694" cy="1082267"/>
          </a:xfrm>
          <a:custGeom>
            <a:avLst/>
            <a:gdLst/>
            <a:ahLst/>
            <a:cxnLst/>
            <a:rect l="l" t="t" r="r" b="b"/>
            <a:pathLst>
              <a:path w="229694" h="1082267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052888" y="7400773"/>
            <a:ext cx="1867456" cy="382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2896" b="1">
                <a:solidFill>
                  <a:srgbClr val="5271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GAMIFICATION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5197" y="7854090"/>
            <a:ext cx="3636539" cy="261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spc="-49">
                <a:solidFill>
                  <a:srgbClr val="B8B8B8"/>
                </a:solidFill>
                <a:latin typeface="Roboto"/>
                <a:ea typeface="Roboto"/>
                <a:cs typeface="Roboto"/>
                <a:sym typeface="Roboto"/>
              </a:rPr>
              <a:t>Score • Combo • Achievements</a:t>
            </a:r>
          </a:p>
        </p:txBody>
      </p:sp>
      <p:sp>
        <p:nvSpPr>
          <p:cNvPr id="23" name="Freeform 23"/>
          <p:cNvSpPr/>
          <p:nvPr/>
        </p:nvSpPr>
        <p:spPr>
          <a:xfrm>
            <a:off x="645330" y="8352038"/>
            <a:ext cx="229694" cy="1082267"/>
          </a:xfrm>
          <a:custGeom>
            <a:avLst/>
            <a:gdLst/>
            <a:ahLst/>
            <a:cxnLst/>
            <a:rect l="l" t="t" r="r" b="b"/>
            <a:pathLst>
              <a:path w="229694" h="1082267">
                <a:moveTo>
                  <a:pt x="0" y="0"/>
                </a:moveTo>
                <a:lnTo>
                  <a:pt x="229694" y="0"/>
                </a:lnTo>
                <a:lnTo>
                  <a:pt x="229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047361" y="8560458"/>
            <a:ext cx="2420195" cy="382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2896" b="1">
                <a:solidFill>
                  <a:srgbClr val="8C38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PERSISTENT DATA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3713" y="8998713"/>
            <a:ext cx="3784906" cy="261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spc="-49">
                <a:solidFill>
                  <a:srgbClr val="B8B8B8"/>
                </a:solidFill>
                <a:latin typeface="Roboto"/>
                <a:ea typeface="Roboto"/>
                <a:cs typeface="Roboto"/>
                <a:sym typeface="Roboto"/>
              </a:rPr>
              <a:t>Statistics • Scores • Leaderboard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99375" y="648375"/>
            <a:ext cx="8998389" cy="1046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2"/>
              </a:lnSpc>
            </a:pPr>
            <a:r>
              <a:rPr lang="en-US" sz="7822" b="1" spc="-76">
                <a:solidFill>
                  <a:srgbClr val="FFFFFF">
                    <a:alpha val="94902"/>
                  </a:srgbClr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FROM TRADITIONAL GAMEPLAY</a:t>
            </a:r>
          </a:p>
        </p:txBody>
      </p:sp>
      <p:sp>
        <p:nvSpPr>
          <p:cNvPr id="4" name="Freeform 4"/>
          <p:cNvSpPr/>
          <p:nvPr/>
        </p:nvSpPr>
        <p:spPr>
          <a:xfrm>
            <a:off x="10226842" y="634055"/>
            <a:ext cx="885962" cy="655919"/>
          </a:xfrm>
          <a:custGeom>
            <a:avLst/>
            <a:gdLst/>
            <a:ahLst/>
            <a:cxnLst/>
            <a:rect l="l" t="t" r="r" b="b"/>
            <a:pathLst>
              <a:path w="885962" h="655919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210155" y="647294"/>
            <a:ext cx="6804062" cy="1004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43"/>
              </a:lnSpc>
            </a:pPr>
            <a:r>
              <a:rPr lang="en-US" sz="7543" b="1" spc="-73">
                <a:solidFill>
                  <a:srgbClr val="38B6FF">
                    <a:alpha val="94902"/>
                  </a:srgbClr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IMMERSIVE </a:t>
            </a:r>
            <a:r>
              <a:rPr lang="en-US" sz="7543" b="1" spc="-73">
                <a:solidFill>
                  <a:srgbClr val="5271FF">
                    <a:alpha val="94902"/>
                  </a:srgbClr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EXPERIENCE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000375" y="1742799"/>
            <a:ext cx="12430125" cy="308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7"/>
              </a:lnSpc>
            </a:pPr>
            <a:r>
              <a:rPr lang="en-US" sz="2387" spc="-23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Elevating memory games with 3D worlds, deeper progression, and real-time engagement.</a:t>
            </a:r>
          </a:p>
        </p:txBody>
      </p:sp>
      <p:sp>
        <p:nvSpPr>
          <p:cNvPr id="7" name="Freeform 7"/>
          <p:cNvSpPr/>
          <p:nvPr/>
        </p:nvSpPr>
        <p:spPr>
          <a:xfrm>
            <a:off x="207818" y="2569017"/>
            <a:ext cx="4582938" cy="6438940"/>
          </a:xfrm>
          <a:custGeom>
            <a:avLst/>
            <a:gdLst/>
            <a:ahLst/>
            <a:cxnLst/>
            <a:rect l="l" t="t" r="r" b="b"/>
            <a:pathLst>
              <a:path w="4582938" h="6438940">
                <a:moveTo>
                  <a:pt x="0" y="0"/>
                </a:moveTo>
                <a:lnTo>
                  <a:pt x="4582938" y="0"/>
                </a:lnTo>
                <a:lnTo>
                  <a:pt x="4582938" y="6438940"/>
                </a:lnTo>
                <a:lnTo>
                  <a:pt x="0" y="64389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72717" y="3174157"/>
            <a:ext cx="3095514" cy="371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759" b="1" spc="-26">
                <a:solidFill>
                  <a:srgbClr val="FFFFFF">
                    <a:alpha val="74902"/>
                  </a:srgbClr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TRADTIONAL MEMORY GAMES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3875" y="4133265"/>
            <a:ext cx="1979674" cy="261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spc="-18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Static 2D interface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7629" y="4841124"/>
            <a:ext cx="1604335" cy="261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spc="-18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Limited modes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4466" y="6271904"/>
            <a:ext cx="2920621" cy="261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spc="-18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No meaningful progression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6371" y="6979764"/>
            <a:ext cx="1730090" cy="261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spc="-18" dirty="0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Limited tracking</a:t>
            </a:r>
          </a:p>
        </p:txBody>
      </p:sp>
      <p:sp>
        <p:nvSpPr>
          <p:cNvPr id="13" name="Freeform 13"/>
          <p:cNvSpPr/>
          <p:nvPr/>
        </p:nvSpPr>
        <p:spPr>
          <a:xfrm>
            <a:off x="3915732" y="5356674"/>
            <a:ext cx="4801694" cy="3224936"/>
          </a:xfrm>
          <a:custGeom>
            <a:avLst/>
            <a:gdLst/>
            <a:ahLst/>
            <a:cxnLst/>
            <a:rect l="l" t="t" r="r" b="b"/>
            <a:pathLst>
              <a:path w="4801694" h="3224936">
                <a:moveTo>
                  <a:pt x="0" y="0"/>
                </a:moveTo>
                <a:lnTo>
                  <a:pt x="4801694" y="0"/>
                </a:lnTo>
                <a:lnTo>
                  <a:pt x="4801694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4353244" y="5783021"/>
            <a:ext cx="875024" cy="1082267"/>
          </a:xfrm>
          <a:custGeom>
            <a:avLst/>
            <a:gdLst/>
            <a:ahLst/>
            <a:cxnLst/>
            <a:rect l="l" t="t" r="r" b="b"/>
            <a:pathLst>
              <a:path w="875024" h="1082267">
                <a:moveTo>
                  <a:pt x="0" y="0"/>
                </a:moveTo>
                <a:lnTo>
                  <a:pt x="875024" y="0"/>
                </a:lnTo>
                <a:lnTo>
                  <a:pt x="87502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5217330" y="5783021"/>
            <a:ext cx="885962" cy="1082267"/>
          </a:xfrm>
          <a:custGeom>
            <a:avLst/>
            <a:gdLst/>
            <a:ahLst/>
            <a:cxnLst/>
            <a:rect l="l" t="t" r="r" b="b"/>
            <a:pathLst>
              <a:path w="885962" h="1082267">
                <a:moveTo>
                  <a:pt x="0" y="0"/>
                </a:moveTo>
                <a:lnTo>
                  <a:pt x="885962" y="0"/>
                </a:lnTo>
                <a:lnTo>
                  <a:pt x="88596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5873598" y="5783021"/>
            <a:ext cx="1093780" cy="1082267"/>
          </a:xfrm>
          <a:custGeom>
            <a:avLst/>
            <a:gdLst/>
            <a:ahLst/>
            <a:cxnLst/>
            <a:rect l="l" t="t" r="r" b="b"/>
            <a:pathLst>
              <a:path w="1093780" h="1082267">
                <a:moveTo>
                  <a:pt x="0" y="0"/>
                </a:moveTo>
                <a:lnTo>
                  <a:pt x="1093780" y="0"/>
                </a:lnTo>
                <a:lnTo>
                  <a:pt x="109378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6748622" y="5783021"/>
            <a:ext cx="1093780" cy="1082267"/>
          </a:xfrm>
          <a:custGeom>
            <a:avLst/>
            <a:gdLst/>
            <a:ahLst/>
            <a:cxnLst/>
            <a:rect l="l" t="t" r="r" b="b"/>
            <a:pathLst>
              <a:path w="1093780" h="1082267">
                <a:moveTo>
                  <a:pt x="0" y="0"/>
                </a:moveTo>
                <a:lnTo>
                  <a:pt x="1093780" y="0"/>
                </a:lnTo>
                <a:lnTo>
                  <a:pt x="109378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4353244" y="6854356"/>
            <a:ext cx="1093780" cy="1289974"/>
          </a:xfrm>
          <a:custGeom>
            <a:avLst/>
            <a:gdLst/>
            <a:ahLst/>
            <a:cxnLst/>
            <a:rect l="l" t="t" r="r" b="b"/>
            <a:pathLst>
              <a:path w="1093780" h="1289974">
                <a:moveTo>
                  <a:pt x="0" y="0"/>
                </a:moveTo>
                <a:lnTo>
                  <a:pt x="1093780" y="0"/>
                </a:lnTo>
                <a:lnTo>
                  <a:pt x="109378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5217330" y="6854356"/>
            <a:ext cx="1104718" cy="1289974"/>
          </a:xfrm>
          <a:custGeom>
            <a:avLst/>
            <a:gdLst/>
            <a:ahLst/>
            <a:cxnLst/>
            <a:rect l="l" t="t" r="r" b="b"/>
            <a:pathLst>
              <a:path w="1104718" h="1289974">
                <a:moveTo>
                  <a:pt x="0" y="0"/>
                </a:moveTo>
                <a:lnTo>
                  <a:pt x="1104718" y="0"/>
                </a:lnTo>
                <a:lnTo>
                  <a:pt x="1104718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6092354" y="6854356"/>
            <a:ext cx="1093780" cy="1289974"/>
          </a:xfrm>
          <a:custGeom>
            <a:avLst/>
            <a:gdLst/>
            <a:ahLst/>
            <a:cxnLst/>
            <a:rect l="l" t="t" r="r" b="b"/>
            <a:pathLst>
              <a:path w="1093780" h="1289974">
                <a:moveTo>
                  <a:pt x="0" y="0"/>
                </a:moveTo>
                <a:lnTo>
                  <a:pt x="1093780" y="0"/>
                </a:lnTo>
                <a:lnTo>
                  <a:pt x="109378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6956440" y="6854356"/>
            <a:ext cx="1104718" cy="1289974"/>
          </a:xfrm>
          <a:custGeom>
            <a:avLst/>
            <a:gdLst/>
            <a:ahLst/>
            <a:cxnLst/>
            <a:rect l="l" t="t" r="r" b="b"/>
            <a:pathLst>
              <a:path w="1104718" h="1289974">
                <a:moveTo>
                  <a:pt x="0" y="0"/>
                </a:moveTo>
                <a:lnTo>
                  <a:pt x="1104718" y="0"/>
                </a:lnTo>
                <a:lnTo>
                  <a:pt x="1104718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5217330" y="3640352"/>
            <a:ext cx="3281340" cy="1508614"/>
          </a:xfrm>
          <a:custGeom>
            <a:avLst/>
            <a:gdLst/>
            <a:ahLst/>
            <a:cxnLst/>
            <a:rect l="l" t="t" r="r" b="b"/>
            <a:pathLst>
              <a:path w="3281340" h="1508614">
                <a:moveTo>
                  <a:pt x="0" y="0"/>
                </a:moveTo>
                <a:lnTo>
                  <a:pt x="3281340" y="0"/>
                </a:lnTo>
                <a:lnTo>
                  <a:pt x="328134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8268976" y="2142670"/>
            <a:ext cx="5447024" cy="7717983"/>
          </a:xfrm>
          <a:custGeom>
            <a:avLst/>
            <a:gdLst/>
            <a:ahLst/>
            <a:cxnLst/>
            <a:rect l="l" t="t" r="r" b="b"/>
            <a:pathLst>
              <a:path w="5447024" h="7717983">
                <a:moveTo>
                  <a:pt x="0" y="0"/>
                </a:moveTo>
                <a:lnTo>
                  <a:pt x="5447024" y="0"/>
                </a:lnTo>
                <a:lnTo>
                  <a:pt x="5447024" y="7717982"/>
                </a:lnTo>
                <a:lnTo>
                  <a:pt x="0" y="771798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3497244" y="2569017"/>
            <a:ext cx="4582938" cy="6438940"/>
          </a:xfrm>
          <a:custGeom>
            <a:avLst/>
            <a:gdLst/>
            <a:ahLst/>
            <a:cxnLst/>
            <a:rect l="l" t="t" r="r" b="b"/>
            <a:pathLst>
              <a:path w="4582938" h="6438940">
                <a:moveTo>
                  <a:pt x="0" y="0"/>
                </a:moveTo>
                <a:lnTo>
                  <a:pt x="4582938" y="0"/>
                </a:lnTo>
                <a:lnTo>
                  <a:pt x="4582938" y="6438940"/>
                </a:lnTo>
                <a:lnTo>
                  <a:pt x="0" y="643894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4065476" y="3076654"/>
            <a:ext cx="2557106" cy="547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4170" b="1" spc="-40">
                <a:solidFill>
                  <a:srgbClr val="38B6FF">
                    <a:alpha val="94902"/>
                  </a:srgbClr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MEMORY </a:t>
            </a:r>
            <a:r>
              <a:rPr lang="en-US" sz="4170" b="1" spc="-40">
                <a:solidFill>
                  <a:srgbClr val="5271FF">
                    <a:alpha val="94902"/>
                  </a:srgbClr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NEXUS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063921" y="4012778"/>
            <a:ext cx="2712634" cy="261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spc="-18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Immersive 3D experience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067720" y="4615212"/>
            <a:ext cx="2332712" cy="261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spc="-18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Multiple game modes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074801" y="5187524"/>
            <a:ext cx="1624588" cy="261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spc="-18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Difficulty levels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065399" y="5789957"/>
            <a:ext cx="2564813" cy="261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spc="-18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Combo &amp; streak system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064386" y="6392391"/>
            <a:ext cx="2666094" cy="261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spc="-18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Achievements &amp; rewards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057240" y="6979764"/>
            <a:ext cx="3380724" cy="261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spc="-18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Real-time performance tracking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058940" y="7582197"/>
            <a:ext cx="3210717" cy="261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spc="-18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Responsive across all devices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070700" y="8184631"/>
            <a:ext cx="2034656" cy="261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spc="-18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Global leaderboard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74150" y="7687623"/>
            <a:ext cx="2952212" cy="261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spc="-18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Low long-term engagement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77490" y="5564045"/>
            <a:ext cx="2618226" cy="261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spc="-18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Weak mobile experience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6223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87371" y="664766"/>
            <a:ext cx="4841011" cy="138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69"/>
              </a:lnSpc>
            </a:pPr>
            <a:r>
              <a:rPr lang="en-US" sz="10369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FULL-STACK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5336" y="1841265"/>
            <a:ext cx="8044499" cy="1298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75"/>
              </a:lnSpc>
            </a:pPr>
            <a:r>
              <a:rPr lang="en-US" sz="9775" b="1">
                <a:solidFill>
                  <a:srgbClr val="0094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GAME </a:t>
            </a:r>
            <a:r>
              <a:rPr lang="en-US" sz="9775" b="1">
                <a:solidFill>
                  <a:srgbClr val="266EF1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ARCHITECTURE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2201" y="3305474"/>
            <a:ext cx="5715867" cy="982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707" spc="-54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Seamless end-to-end platform</a:t>
            </a:r>
          </a:p>
          <a:p>
            <a:pPr algn="l">
              <a:lnSpc>
                <a:spcPts val="4060"/>
              </a:lnSpc>
            </a:pPr>
            <a:r>
              <a:rPr lang="en-US" sz="2707" spc="-54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built for interactive 3D memory games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38842" y="4721193"/>
            <a:ext cx="5051760" cy="982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707" spc="-54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Modern web technologies for</a:t>
            </a:r>
          </a:p>
          <a:p>
            <a:pPr algn="l">
              <a:lnSpc>
                <a:spcPts val="4060"/>
              </a:lnSpc>
            </a:pPr>
            <a:r>
              <a:rPr lang="en-US" sz="2707" spc="-54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responsive, engaging experiences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39900" y="6182095"/>
            <a:ext cx="4945976" cy="982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707" spc="-54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Robust backend and lightweight</a:t>
            </a:r>
          </a:p>
          <a:p>
            <a:pPr algn="l">
              <a:lnSpc>
                <a:spcPts val="4060"/>
              </a:lnSpc>
            </a:pPr>
            <a:r>
              <a:rPr lang="en-US" sz="2707" spc="-54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database for speed and reliability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4996" y="7642996"/>
            <a:ext cx="4436330" cy="982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707" spc="-54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Scalable foundation designed</a:t>
            </a:r>
          </a:p>
          <a:p>
            <a:pPr algn="l">
              <a:lnSpc>
                <a:spcPts val="4060"/>
              </a:lnSpc>
            </a:pPr>
            <a:r>
              <a:rPr lang="en-US" sz="2707" spc="-54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for performance and growth</a:t>
            </a:r>
          </a:p>
        </p:txBody>
      </p:sp>
      <p:sp>
        <p:nvSpPr>
          <p:cNvPr id="9" name="Freeform 9"/>
          <p:cNvSpPr/>
          <p:nvPr/>
        </p:nvSpPr>
        <p:spPr>
          <a:xfrm>
            <a:off x="8487732" y="852695"/>
            <a:ext cx="5228268" cy="8800250"/>
          </a:xfrm>
          <a:custGeom>
            <a:avLst/>
            <a:gdLst/>
            <a:ahLst/>
            <a:cxnLst/>
            <a:rect l="l" t="t" r="r" b="b"/>
            <a:pathLst>
              <a:path w="5228268" h="8800250">
                <a:moveTo>
                  <a:pt x="0" y="0"/>
                </a:moveTo>
                <a:lnTo>
                  <a:pt x="5228268" y="0"/>
                </a:lnTo>
                <a:lnTo>
                  <a:pt x="5228268" y="8800250"/>
                </a:lnTo>
                <a:lnTo>
                  <a:pt x="0" y="8800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669152" y="2586784"/>
            <a:ext cx="879472" cy="371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 b="1" spc="55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PLAYER</a:t>
            </a:r>
          </a:p>
        </p:txBody>
      </p:sp>
      <p:sp>
        <p:nvSpPr>
          <p:cNvPr id="11" name="Freeform 11"/>
          <p:cNvSpPr/>
          <p:nvPr/>
        </p:nvSpPr>
        <p:spPr>
          <a:xfrm>
            <a:off x="13278488" y="2350377"/>
            <a:ext cx="1750048" cy="437279"/>
          </a:xfrm>
          <a:custGeom>
            <a:avLst/>
            <a:gdLst/>
            <a:ahLst/>
            <a:cxnLst/>
            <a:rect l="l" t="t" r="r" b="b"/>
            <a:pathLst>
              <a:path w="1750048" h="437279">
                <a:moveTo>
                  <a:pt x="0" y="0"/>
                </a:moveTo>
                <a:lnTo>
                  <a:pt x="1750048" y="0"/>
                </a:lnTo>
                <a:lnTo>
                  <a:pt x="1750048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5045836" y="2283666"/>
            <a:ext cx="961729" cy="449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759" spc="-55">
                <a:solidFill>
                  <a:srgbClr val="46A0E1"/>
                </a:solidFill>
                <a:latin typeface="Bebas Neue"/>
                <a:ea typeface="Bebas Neue"/>
                <a:cs typeface="Bebas Neue"/>
                <a:sym typeface="Bebas Neue"/>
              </a:rPr>
              <a:t>Player</a:t>
            </a:r>
          </a:p>
        </p:txBody>
      </p:sp>
      <p:sp>
        <p:nvSpPr>
          <p:cNvPr id="13" name="Freeform 13"/>
          <p:cNvSpPr/>
          <p:nvPr/>
        </p:nvSpPr>
        <p:spPr>
          <a:xfrm>
            <a:off x="8925244" y="2995365"/>
            <a:ext cx="4582938" cy="1727254"/>
          </a:xfrm>
          <a:custGeom>
            <a:avLst/>
            <a:gdLst/>
            <a:ahLst/>
            <a:cxnLst/>
            <a:rect l="l" t="t" r="r" b="b"/>
            <a:pathLst>
              <a:path w="4582938" h="1727254">
                <a:moveTo>
                  <a:pt x="0" y="0"/>
                </a:moveTo>
                <a:lnTo>
                  <a:pt x="4582938" y="0"/>
                </a:lnTo>
                <a:lnTo>
                  <a:pt x="4582938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9770732" y="3776591"/>
            <a:ext cx="2676313" cy="371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 b="1" spc="55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RESPONSIVE </a:t>
            </a:r>
            <a:r>
              <a:rPr lang="en-US" sz="2759" b="1" spc="55">
                <a:solidFill>
                  <a:srgbClr val="76C2E6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FRONTEND</a:t>
            </a:r>
          </a:p>
        </p:txBody>
      </p:sp>
      <p:sp>
        <p:nvSpPr>
          <p:cNvPr id="15" name="Freeform 15"/>
          <p:cNvSpPr/>
          <p:nvPr/>
        </p:nvSpPr>
        <p:spPr>
          <a:xfrm>
            <a:off x="13278488" y="3640352"/>
            <a:ext cx="1750048" cy="437279"/>
          </a:xfrm>
          <a:custGeom>
            <a:avLst/>
            <a:gdLst/>
            <a:ahLst/>
            <a:cxnLst/>
            <a:rect l="l" t="t" r="r" b="b"/>
            <a:pathLst>
              <a:path w="1750048" h="437279">
                <a:moveTo>
                  <a:pt x="0" y="0"/>
                </a:moveTo>
                <a:lnTo>
                  <a:pt x="1750048" y="0"/>
                </a:lnTo>
                <a:lnTo>
                  <a:pt x="175004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5034143" y="3307820"/>
            <a:ext cx="2131057" cy="861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654" spc="-53">
                <a:solidFill>
                  <a:srgbClr val="5F88E2"/>
                </a:solidFill>
                <a:latin typeface="Bebas Neue"/>
                <a:ea typeface="Bebas Neue"/>
                <a:cs typeface="Bebas Neue"/>
                <a:sym typeface="Bebas Neue"/>
              </a:rPr>
              <a:t>HTML5, CSS3,</a:t>
            </a:r>
          </a:p>
          <a:p>
            <a:pPr algn="l">
              <a:lnSpc>
                <a:spcPts val="3450"/>
              </a:lnSpc>
            </a:pPr>
            <a:r>
              <a:rPr lang="en-US" sz="2654" spc="-53">
                <a:solidFill>
                  <a:srgbClr val="5F88E2"/>
                </a:solidFill>
                <a:latin typeface="Bebas Neue"/>
                <a:ea typeface="Bebas Neue"/>
                <a:cs typeface="Bebas Neue"/>
                <a:sym typeface="Bebas Neue"/>
              </a:rPr>
              <a:t>JavaScript</a:t>
            </a:r>
          </a:p>
        </p:txBody>
      </p:sp>
      <p:sp>
        <p:nvSpPr>
          <p:cNvPr id="17" name="Freeform 17"/>
          <p:cNvSpPr/>
          <p:nvPr/>
        </p:nvSpPr>
        <p:spPr>
          <a:xfrm>
            <a:off x="8706488" y="4285339"/>
            <a:ext cx="4801694" cy="1716322"/>
          </a:xfrm>
          <a:custGeom>
            <a:avLst/>
            <a:gdLst/>
            <a:ahLst/>
            <a:cxnLst/>
            <a:rect l="l" t="t" r="r" b="b"/>
            <a:pathLst>
              <a:path w="4801694" h="1716322">
                <a:moveTo>
                  <a:pt x="0" y="0"/>
                </a:moveTo>
                <a:lnTo>
                  <a:pt x="4801694" y="0"/>
                </a:lnTo>
                <a:lnTo>
                  <a:pt x="4801694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0334521" y="5056762"/>
            <a:ext cx="1548735" cy="371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 b="1" spc="55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GAME ENGINE</a:t>
            </a:r>
          </a:p>
        </p:txBody>
      </p:sp>
      <p:sp>
        <p:nvSpPr>
          <p:cNvPr id="19" name="Freeform 19"/>
          <p:cNvSpPr/>
          <p:nvPr/>
        </p:nvSpPr>
        <p:spPr>
          <a:xfrm>
            <a:off x="13278488" y="4919394"/>
            <a:ext cx="1750048" cy="448211"/>
          </a:xfrm>
          <a:custGeom>
            <a:avLst/>
            <a:gdLst/>
            <a:ahLst/>
            <a:cxnLst/>
            <a:rect l="l" t="t" r="r" b="b"/>
            <a:pathLst>
              <a:path w="1750048" h="448211">
                <a:moveTo>
                  <a:pt x="0" y="0"/>
                </a:moveTo>
                <a:lnTo>
                  <a:pt x="1750048" y="0"/>
                </a:lnTo>
                <a:lnTo>
                  <a:pt x="1750048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5025806" y="4603052"/>
            <a:ext cx="2964724" cy="861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654" spc="-53">
                <a:solidFill>
                  <a:srgbClr val="8C38E6"/>
                </a:solidFill>
                <a:latin typeface="Bebas Neue"/>
                <a:ea typeface="Bebas Neue"/>
                <a:cs typeface="Bebas Neue"/>
                <a:sym typeface="Bebas Neue"/>
              </a:rPr>
              <a:t>Responsive Design,</a:t>
            </a:r>
          </a:p>
          <a:p>
            <a:pPr algn="l">
              <a:lnSpc>
                <a:spcPts val="3450"/>
              </a:lnSpc>
            </a:pPr>
            <a:r>
              <a:rPr lang="en-US" sz="2654" spc="-53">
                <a:solidFill>
                  <a:srgbClr val="8C38E6"/>
                </a:solidFill>
                <a:latin typeface="Bebas Neue"/>
                <a:ea typeface="Bebas Neue"/>
                <a:cs typeface="Bebas Neue"/>
                <a:sym typeface="Bebas Neue"/>
              </a:rPr>
              <a:t>CSS 3D, Animations</a:t>
            </a:r>
          </a:p>
        </p:txBody>
      </p:sp>
      <p:sp>
        <p:nvSpPr>
          <p:cNvPr id="21" name="Freeform 21"/>
          <p:cNvSpPr/>
          <p:nvPr/>
        </p:nvSpPr>
        <p:spPr>
          <a:xfrm>
            <a:off x="8487732" y="5356674"/>
            <a:ext cx="5228268" cy="1934962"/>
          </a:xfrm>
          <a:custGeom>
            <a:avLst/>
            <a:gdLst/>
            <a:ahLst/>
            <a:cxnLst/>
            <a:rect l="l" t="t" r="r" b="b"/>
            <a:pathLst>
              <a:path w="5228268" h="1934962">
                <a:moveTo>
                  <a:pt x="0" y="0"/>
                </a:moveTo>
                <a:lnTo>
                  <a:pt x="5228268" y="0"/>
                </a:lnTo>
                <a:lnTo>
                  <a:pt x="5228268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0349275" y="6321873"/>
            <a:ext cx="1519228" cy="371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 b="1" spc="55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BACKEND API</a:t>
            </a:r>
          </a:p>
        </p:txBody>
      </p:sp>
      <p:sp>
        <p:nvSpPr>
          <p:cNvPr id="23" name="Freeform 23"/>
          <p:cNvSpPr/>
          <p:nvPr/>
        </p:nvSpPr>
        <p:spPr>
          <a:xfrm>
            <a:off x="13278488" y="6209369"/>
            <a:ext cx="1750048" cy="437279"/>
          </a:xfrm>
          <a:custGeom>
            <a:avLst/>
            <a:gdLst/>
            <a:ahLst/>
            <a:cxnLst/>
            <a:rect l="l" t="t" r="r" b="b"/>
            <a:pathLst>
              <a:path w="1750048" h="437279">
                <a:moveTo>
                  <a:pt x="0" y="0"/>
                </a:moveTo>
                <a:lnTo>
                  <a:pt x="1750048" y="0"/>
                </a:lnTo>
                <a:lnTo>
                  <a:pt x="175004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5040238" y="5883224"/>
            <a:ext cx="1521546" cy="861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654" spc="-53">
                <a:solidFill>
                  <a:srgbClr val="8C38E6"/>
                </a:solidFill>
                <a:latin typeface="Bebas Neue"/>
                <a:ea typeface="Bebas Neue"/>
                <a:cs typeface="Bebas Neue"/>
                <a:sym typeface="Bebas Neue"/>
              </a:rPr>
              <a:t>Node.js,</a:t>
            </a:r>
          </a:p>
          <a:p>
            <a:pPr algn="l">
              <a:lnSpc>
                <a:spcPts val="3450"/>
              </a:lnSpc>
            </a:pPr>
            <a:r>
              <a:rPr lang="en-US" sz="2654" spc="-53">
                <a:solidFill>
                  <a:srgbClr val="8C38E6"/>
                </a:solidFill>
                <a:latin typeface="Bebas Neue"/>
                <a:ea typeface="Bebas Neue"/>
                <a:cs typeface="Bebas Neue"/>
                <a:sym typeface="Bebas Neue"/>
              </a:rPr>
              <a:t>Express.js</a:t>
            </a:r>
          </a:p>
        </p:txBody>
      </p:sp>
      <p:sp>
        <p:nvSpPr>
          <p:cNvPr id="25" name="Freeform 25"/>
          <p:cNvSpPr/>
          <p:nvPr/>
        </p:nvSpPr>
        <p:spPr>
          <a:xfrm>
            <a:off x="8487732" y="6635716"/>
            <a:ext cx="5228268" cy="1945894"/>
          </a:xfrm>
          <a:custGeom>
            <a:avLst/>
            <a:gdLst/>
            <a:ahLst/>
            <a:cxnLst/>
            <a:rect l="l" t="t" r="r" b="b"/>
            <a:pathLst>
              <a:path w="5228268" h="1945894">
                <a:moveTo>
                  <a:pt x="0" y="0"/>
                </a:moveTo>
                <a:lnTo>
                  <a:pt x="5228268" y="0"/>
                </a:lnTo>
                <a:lnTo>
                  <a:pt x="5228268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0718513" y="7586984"/>
            <a:ext cx="1149989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 b="1" spc="55" dirty="0" err="1" smtClean="0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mongodb</a:t>
            </a:r>
            <a:endParaRPr lang="en-US" sz="2759" b="1" spc="55" dirty="0">
              <a:solidFill>
                <a:srgbClr val="FFFFFF"/>
              </a:solidFill>
              <a:latin typeface="Bebas Neue Bold"/>
              <a:ea typeface="Bebas Neue Bold"/>
              <a:cs typeface="Bebas Neue Bold"/>
              <a:sym typeface="Bebas Neue Bold"/>
            </a:endParaRPr>
          </a:p>
        </p:txBody>
      </p:sp>
      <p:sp>
        <p:nvSpPr>
          <p:cNvPr id="27" name="Freeform 27"/>
          <p:cNvSpPr/>
          <p:nvPr/>
        </p:nvSpPr>
        <p:spPr>
          <a:xfrm>
            <a:off x="13278488" y="7280704"/>
            <a:ext cx="1750048" cy="437279"/>
          </a:xfrm>
          <a:custGeom>
            <a:avLst/>
            <a:gdLst/>
            <a:ahLst/>
            <a:cxnLst/>
            <a:rect l="l" t="t" r="r" b="b"/>
            <a:pathLst>
              <a:path w="1750048" h="437279">
                <a:moveTo>
                  <a:pt x="0" y="0"/>
                </a:moveTo>
                <a:lnTo>
                  <a:pt x="1750048" y="0"/>
                </a:lnTo>
                <a:lnTo>
                  <a:pt x="175004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5045256" y="7298926"/>
            <a:ext cx="1019746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759" spc="-55" dirty="0" err="1" smtClean="0">
                <a:solidFill>
                  <a:srgbClr val="8C38E6"/>
                </a:solidFill>
                <a:latin typeface="Bebas Neue"/>
                <a:ea typeface="Bebas Neue"/>
                <a:cs typeface="Bebas Neue"/>
                <a:sym typeface="Bebas Neue"/>
              </a:rPr>
              <a:t>mongodb</a:t>
            </a:r>
            <a:endParaRPr lang="en-US" sz="2759" spc="-55" dirty="0">
              <a:solidFill>
                <a:srgbClr val="8C38E6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8487732" y="7831392"/>
            <a:ext cx="5228268" cy="1880545"/>
          </a:xfrm>
          <a:custGeom>
            <a:avLst/>
            <a:gdLst/>
            <a:ahLst/>
            <a:cxnLst/>
            <a:rect l="l" t="t" r="r" b="b"/>
            <a:pathLst>
              <a:path w="5228268" h="1945894">
                <a:moveTo>
                  <a:pt x="0" y="0"/>
                </a:moveTo>
                <a:lnTo>
                  <a:pt x="5228268" y="0"/>
                </a:lnTo>
                <a:lnTo>
                  <a:pt x="5228268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0335249" y="8806912"/>
            <a:ext cx="1547278" cy="371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 b="1" spc="55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PLAYER DATA</a:t>
            </a:r>
          </a:p>
        </p:txBody>
      </p:sp>
      <p:sp>
        <p:nvSpPr>
          <p:cNvPr id="31" name="Freeform 31"/>
          <p:cNvSpPr/>
          <p:nvPr/>
        </p:nvSpPr>
        <p:spPr>
          <a:xfrm>
            <a:off x="13278488" y="8570678"/>
            <a:ext cx="1750048" cy="437279"/>
          </a:xfrm>
          <a:custGeom>
            <a:avLst/>
            <a:gdLst/>
            <a:ahLst/>
            <a:cxnLst/>
            <a:rect l="l" t="t" r="r" b="b"/>
            <a:pathLst>
              <a:path w="1750048" h="437279">
                <a:moveTo>
                  <a:pt x="0" y="0"/>
                </a:moveTo>
                <a:lnTo>
                  <a:pt x="1750048" y="0"/>
                </a:lnTo>
                <a:lnTo>
                  <a:pt x="175004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15037753" y="8458610"/>
            <a:ext cx="1770051" cy="449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759" spc="-55">
                <a:solidFill>
                  <a:srgbClr val="8C38E6"/>
                </a:solidFill>
                <a:latin typeface="Bebas Neue"/>
                <a:ea typeface="Bebas Neue"/>
                <a:cs typeface="Bebas Neue"/>
                <a:sym typeface="Bebas Neue"/>
              </a:rPr>
              <a:t>Player Data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268976" y="634055"/>
            <a:ext cx="9592450" cy="8581610"/>
          </a:xfrm>
          <a:custGeom>
            <a:avLst/>
            <a:gdLst/>
            <a:ahLst/>
            <a:cxnLst/>
            <a:rect l="l" t="t" r="r" b="b"/>
            <a:pathLst>
              <a:path w="9592450" h="8581610">
                <a:moveTo>
                  <a:pt x="0" y="0"/>
                </a:moveTo>
                <a:lnTo>
                  <a:pt x="9592450" y="0"/>
                </a:lnTo>
                <a:lnTo>
                  <a:pt x="9592450" y="8581610"/>
                </a:lnTo>
                <a:lnTo>
                  <a:pt x="0" y="85816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68508" y="762378"/>
            <a:ext cx="7442995" cy="1244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57"/>
              </a:lnSpc>
            </a:pPr>
            <a:r>
              <a:rPr lang="en-US" sz="9357" b="1" spc="91">
                <a:solidFill>
                  <a:srgbClr val="FFFFFF">
                    <a:alpha val="89804"/>
                  </a:srgbClr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ENGINEERED FOR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70202" y="1869477"/>
            <a:ext cx="7273569" cy="1485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10"/>
              </a:lnSpc>
            </a:pPr>
            <a:r>
              <a:rPr lang="en-US" sz="11210" b="1" spc="109" dirty="0">
                <a:gradFill>
                  <a:gsLst>
                    <a:gs pos="0">
                      <a:srgbClr val="0896DB">
                        <a:alpha val="100000"/>
                      </a:srgbClr>
                    </a:gs>
                    <a:gs pos="100000">
                      <a:srgbClr val="9010E3">
                        <a:alpha val="100000"/>
                      </a:srgbClr>
                    </a:gs>
                  </a:gsLst>
                  <a:lin ang="21046289"/>
                </a:gradFill>
                <a:latin typeface="Bebas Neue Bold"/>
                <a:ea typeface="Bebas Neue Bold"/>
                <a:cs typeface="Bebas Neue Bold"/>
                <a:sym typeface="Bebas Neue Bold"/>
              </a:rPr>
              <a:t>ENGAGEMENT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6525" y="3277883"/>
            <a:ext cx="4999087" cy="826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sz="2575">
                <a:solidFill>
                  <a:srgbClr val="FFFFFF">
                    <a:alpha val="6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Thoughtful mechanics. Intelligent design. Real results.</a:t>
            </a:r>
          </a:p>
        </p:txBody>
      </p:sp>
      <p:sp>
        <p:nvSpPr>
          <p:cNvPr id="7" name="Freeform 7"/>
          <p:cNvSpPr/>
          <p:nvPr/>
        </p:nvSpPr>
        <p:spPr>
          <a:xfrm>
            <a:off x="426574" y="4285339"/>
            <a:ext cx="2843828" cy="2579949"/>
          </a:xfrm>
          <a:custGeom>
            <a:avLst/>
            <a:gdLst/>
            <a:ahLst/>
            <a:cxnLst/>
            <a:rect l="l" t="t" r="r" b="b"/>
            <a:pathLst>
              <a:path w="2843828" h="2579949">
                <a:moveTo>
                  <a:pt x="0" y="0"/>
                </a:moveTo>
                <a:lnTo>
                  <a:pt x="2843828" y="0"/>
                </a:lnTo>
                <a:lnTo>
                  <a:pt x="2843828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70723" y="4783906"/>
            <a:ext cx="1331583" cy="314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687" b="1" spc="-33">
                <a:solidFill>
                  <a:srgbClr val="FFFFFF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3D CARD FLIP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67178" y="5495881"/>
            <a:ext cx="1686138" cy="796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32" spc="-28">
                <a:solidFill>
                  <a:srgbClr val="FFFFFF">
                    <a:alpha val="6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Fluid animations and tactile feedback bring every move to life.</a:t>
            </a:r>
          </a:p>
        </p:txBody>
      </p:sp>
      <p:sp>
        <p:nvSpPr>
          <p:cNvPr id="10" name="Freeform 10"/>
          <p:cNvSpPr/>
          <p:nvPr/>
        </p:nvSpPr>
        <p:spPr>
          <a:xfrm>
            <a:off x="3040708" y="4285339"/>
            <a:ext cx="2843828" cy="2579949"/>
          </a:xfrm>
          <a:custGeom>
            <a:avLst/>
            <a:gdLst/>
            <a:ahLst/>
            <a:cxnLst/>
            <a:rect l="l" t="t" r="r" b="b"/>
            <a:pathLst>
              <a:path w="2843828" h="2579949">
                <a:moveTo>
                  <a:pt x="0" y="0"/>
                </a:moveTo>
                <a:lnTo>
                  <a:pt x="2843828" y="0"/>
                </a:lnTo>
                <a:lnTo>
                  <a:pt x="2843828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465282" y="4791492"/>
            <a:ext cx="1729616" cy="299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b="1" spc="-32">
                <a:solidFill>
                  <a:srgbClr val="FFFFFF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MULTIPLE MODES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61280" y="5411888"/>
            <a:ext cx="2129773" cy="954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 spc="-34">
                <a:solidFill>
                  <a:srgbClr val="FFFFFF">
                    <a:alpha val="6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Classic, Timed, Challenge, and Infinite for every play style.</a:t>
            </a:r>
          </a:p>
        </p:txBody>
      </p:sp>
      <p:sp>
        <p:nvSpPr>
          <p:cNvPr id="13" name="Freeform 13"/>
          <p:cNvSpPr/>
          <p:nvPr/>
        </p:nvSpPr>
        <p:spPr>
          <a:xfrm>
            <a:off x="5873598" y="4285339"/>
            <a:ext cx="2625072" cy="2579949"/>
          </a:xfrm>
          <a:custGeom>
            <a:avLst/>
            <a:gdLst/>
            <a:ahLst/>
            <a:cxnLst/>
            <a:rect l="l" t="t" r="r" b="b"/>
            <a:pathLst>
              <a:path w="2625072" h="2579949">
                <a:moveTo>
                  <a:pt x="0" y="0"/>
                </a:moveTo>
                <a:lnTo>
                  <a:pt x="2625072" y="0"/>
                </a:lnTo>
                <a:lnTo>
                  <a:pt x="2625072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6140634" y="4791492"/>
            <a:ext cx="2085086" cy="299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b="1" spc="-32">
                <a:solidFill>
                  <a:srgbClr val="FFFFFF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DYNAMIC DIFFICULTY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141963" y="5269073"/>
            <a:ext cx="1952095" cy="425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6"/>
              </a:lnSpc>
            </a:pPr>
            <a:r>
              <a:rPr lang="en-US" sz="2337" b="1" spc="-4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4×4 • 4×6 • 6×6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144205" y="5800444"/>
            <a:ext cx="1727895" cy="528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32" spc="-28">
                <a:solidFill>
                  <a:srgbClr val="FFFFFF">
                    <a:alpha val="6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Progressive grids that adapt to your skill.</a:t>
            </a:r>
          </a:p>
        </p:txBody>
      </p:sp>
      <p:sp>
        <p:nvSpPr>
          <p:cNvPr id="17" name="Freeform 17"/>
          <p:cNvSpPr/>
          <p:nvPr/>
        </p:nvSpPr>
        <p:spPr>
          <a:xfrm>
            <a:off x="426574" y="6854356"/>
            <a:ext cx="2843828" cy="2579949"/>
          </a:xfrm>
          <a:custGeom>
            <a:avLst/>
            <a:gdLst/>
            <a:ahLst/>
            <a:cxnLst/>
            <a:rect l="l" t="t" r="r" b="b"/>
            <a:pathLst>
              <a:path w="2843828" h="2579949">
                <a:moveTo>
                  <a:pt x="0" y="0"/>
                </a:moveTo>
                <a:lnTo>
                  <a:pt x="2843828" y="0"/>
                </a:lnTo>
                <a:lnTo>
                  <a:pt x="2843828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62610" y="7337176"/>
            <a:ext cx="2142888" cy="299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b="1" spc="-32">
                <a:solidFill>
                  <a:srgbClr val="FFFFFF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SMART GAMIFICATION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65498" y="8017413"/>
            <a:ext cx="1854096" cy="804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4"/>
              </a:lnSpc>
            </a:pPr>
            <a:r>
              <a:rPr lang="en-US" sz="1476" spc="-29">
                <a:solidFill>
                  <a:srgbClr val="FFFFFF">
                    <a:alpha val="6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Achievements, streaks, and rewards that keep you coming back.</a:t>
            </a:r>
          </a:p>
        </p:txBody>
      </p:sp>
      <p:sp>
        <p:nvSpPr>
          <p:cNvPr id="20" name="Freeform 20"/>
          <p:cNvSpPr/>
          <p:nvPr/>
        </p:nvSpPr>
        <p:spPr>
          <a:xfrm>
            <a:off x="3040708" y="6854356"/>
            <a:ext cx="2843828" cy="2579949"/>
          </a:xfrm>
          <a:custGeom>
            <a:avLst/>
            <a:gdLst/>
            <a:ahLst/>
            <a:cxnLst/>
            <a:rect l="l" t="t" r="r" b="b"/>
            <a:pathLst>
              <a:path w="2843828" h="2579949">
                <a:moveTo>
                  <a:pt x="0" y="0"/>
                </a:moveTo>
                <a:lnTo>
                  <a:pt x="2843828" y="0"/>
                </a:lnTo>
                <a:lnTo>
                  <a:pt x="2843828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3482578" y="7387790"/>
            <a:ext cx="2143125" cy="237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6"/>
              </a:lnSpc>
            </a:pPr>
            <a:r>
              <a:rPr lang="en-US" sz="1324" b="1" spc="-26">
                <a:solidFill>
                  <a:srgbClr val="FFFFFF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REAL-TIME PERFORMANCE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465027" y="8026102"/>
            <a:ext cx="1755114" cy="796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432" spc="-28">
                <a:solidFill>
                  <a:srgbClr val="FFFFFF">
                    <a:alpha val="6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Live stats and insights that help you improve every session.</a:t>
            </a:r>
          </a:p>
        </p:txBody>
      </p:sp>
      <p:sp>
        <p:nvSpPr>
          <p:cNvPr id="23" name="Freeform 23"/>
          <p:cNvSpPr/>
          <p:nvPr/>
        </p:nvSpPr>
        <p:spPr>
          <a:xfrm>
            <a:off x="5873598" y="6854356"/>
            <a:ext cx="2625072" cy="2579949"/>
          </a:xfrm>
          <a:custGeom>
            <a:avLst/>
            <a:gdLst/>
            <a:ahLst/>
            <a:cxnLst/>
            <a:rect l="l" t="t" r="r" b="b"/>
            <a:pathLst>
              <a:path w="2625072" h="2579949">
                <a:moveTo>
                  <a:pt x="0" y="0"/>
                </a:moveTo>
                <a:lnTo>
                  <a:pt x="2625072" y="0"/>
                </a:lnTo>
                <a:lnTo>
                  <a:pt x="2625072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6161484" y="7379531"/>
            <a:ext cx="2143125" cy="244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1390" b="1" spc="-27">
                <a:solidFill>
                  <a:srgbClr val="FFFFFF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RESPONSIVE EXPERIENCE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145541" y="8017413"/>
            <a:ext cx="1594334" cy="804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4"/>
              </a:lnSpc>
            </a:pPr>
            <a:r>
              <a:rPr lang="en-US" sz="1476" spc="-29">
                <a:solidFill>
                  <a:srgbClr val="FFFFFF">
                    <a:alpha val="6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Seamless across all devices with instant sync and save.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97244" y="852695"/>
            <a:ext cx="3707914" cy="4941258"/>
          </a:xfrm>
          <a:custGeom>
            <a:avLst/>
            <a:gdLst/>
            <a:ahLst/>
            <a:cxnLst/>
            <a:rect l="l" t="t" r="r" b="b"/>
            <a:pathLst>
              <a:path w="3707914" h="4941258">
                <a:moveTo>
                  <a:pt x="0" y="0"/>
                </a:moveTo>
                <a:lnTo>
                  <a:pt x="3707914" y="0"/>
                </a:lnTo>
                <a:lnTo>
                  <a:pt x="3707914" y="4941258"/>
                </a:lnTo>
                <a:lnTo>
                  <a:pt x="0" y="4941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26574" y="4066699"/>
            <a:ext cx="2843828" cy="4077631"/>
          </a:xfrm>
          <a:custGeom>
            <a:avLst/>
            <a:gdLst/>
            <a:ahLst/>
            <a:cxnLst/>
            <a:rect l="l" t="t" r="r" b="b"/>
            <a:pathLst>
              <a:path w="2843828" h="4077631">
                <a:moveTo>
                  <a:pt x="0" y="0"/>
                </a:moveTo>
                <a:lnTo>
                  <a:pt x="2843828" y="0"/>
                </a:lnTo>
                <a:lnTo>
                  <a:pt x="2843828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478220" y="4066699"/>
            <a:ext cx="2843828" cy="4077631"/>
          </a:xfrm>
          <a:custGeom>
            <a:avLst/>
            <a:gdLst/>
            <a:ahLst/>
            <a:cxnLst/>
            <a:rect l="l" t="t" r="r" b="b"/>
            <a:pathLst>
              <a:path w="2843828" h="4077631">
                <a:moveTo>
                  <a:pt x="0" y="0"/>
                </a:moveTo>
                <a:lnTo>
                  <a:pt x="2843828" y="0"/>
                </a:lnTo>
                <a:lnTo>
                  <a:pt x="2843828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529866" y="4066699"/>
            <a:ext cx="2832890" cy="4077631"/>
          </a:xfrm>
          <a:custGeom>
            <a:avLst/>
            <a:gdLst/>
            <a:ahLst/>
            <a:cxnLst/>
            <a:rect l="l" t="t" r="r" b="b"/>
            <a:pathLst>
              <a:path w="2832890" h="4077631">
                <a:moveTo>
                  <a:pt x="0" y="0"/>
                </a:moveTo>
                <a:lnTo>
                  <a:pt x="2832890" y="0"/>
                </a:lnTo>
                <a:lnTo>
                  <a:pt x="2832890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570574" y="4066699"/>
            <a:ext cx="2843828" cy="4077631"/>
          </a:xfrm>
          <a:custGeom>
            <a:avLst/>
            <a:gdLst/>
            <a:ahLst/>
            <a:cxnLst/>
            <a:rect l="l" t="t" r="r" b="b"/>
            <a:pathLst>
              <a:path w="2843828" h="4077631">
                <a:moveTo>
                  <a:pt x="0" y="0"/>
                </a:moveTo>
                <a:lnTo>
                  <a:pt x="2843828" y="0"/>
                </a:lnTo>
                <a:lnTo>
                  <a:pt x="2843828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603196" y="8778386"/>
            <a:ext cx="1542230" cy="437279"/>
          </a:xfrm>
          <a:custGeom>
            <a:avLst/>
            <a:gdLst/>
            <a:ahLst/>
            <a:cxnLst/>
            <a:rect l="l" t="t" r="r" b="b"/>
            <a:pathLst>
              <a:path w="1542230" h="437279">
                <a:moveTo>
                  <a:pt x="0" y="0"/>
                </a:moveTo>
                <a:lnTo>
                  <a:pt x="1542230" y="0"/>
                </a:lnTo>
                <a:lnTo>
                  <a:pt x="154223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654842" y="8778386"/>
            <a:ext cx="1312536" cy="437279"/>
          </a:xfrm>
          <a:custGeom>
            <a:avLst/>
            <a:gdLst/>
            <a:ahLst/>
            <a:cxnLst/>
            <a:rect l="l" t="t" r="r" b="b"/>
            <a:pathLst>
              <a:path w="1312536" h="437279">
                <a:moveTo>
                  <a:pt x="0" y="0"/>
                </a:moveTo>
                <a:lnTo>
                  <a:pt x="1312536" y="0"/>
                </a:lnTo>
                <a:lnTo>
                  <a:pt x="131253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487732" y="8778386"/>
            <a:ext cx="1750048" cy="437279"/>
          </a:xfrm>
          <a:custGeom>
            <a:avLst/>
            <a:gdLst/>
            <a:ahLst/>
            <a:cxnLst/>
            <a:rect l="l" t="t" r="r" b="b"/>
            <a:pathLst>
              <a:path w="1750048" h="437279">
                <a:moveTo>
                  <a:pt x="0" y="0"/>
                </a:moveTo>
                <a:lnTo>
                  <a:pt x="1750048" y="0"/>
                </a:lnTo>
                <a:lnTo>
                  <a:pt x="175004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965952" y="7925691"/>
            <a:ext cx="2187560" cy="1082267"/>
          </a:xfrm>
          <a:custGeom>
            <a:avLst/>
            <a:gdLst/>
            <a:ahLst/>
            <a:cxnLst/>
            <a:rect l="l" t="t" r="r" b="b"/>
            <a:pathLst>
              <a:path w="2187560" h="1082267">
                <a:moveTo>
                  <a:pt x="0" y="0"/>
                </a:moveTo>
                <a:lnTo>
                  <a:pt x="2187560" y="0"/>
                </a:lnTo>
                <a:lnTo>
                  <a:pt x="218756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64086" y="8352038"/>
            <a:ext cx="1968804" cy="1508614"/>
          </a:xfrm>
          <a:custGeom>
            <a:avLst/>
            <a:gdLst/>
            <a:ahLst/>
            <a:cxnLst/>
            <a:rect l="l" t="t" r="r" b="b"/>
            <a:pathLst>
              <a:path w="1968804" h="1508614">
                <a:moveTo>
                  <a:pt x="0" y="0"/>
                </a:moveTo>
                <a:lnTo>
                  <a:pt x="1968804" y="0"/>
                </a:lnTo>
                <a:lnTo>
                  <a:pt x="196880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3915732" y="8352038"/>
            <a:ext cx="1968804" cy="1508614"/>
          </a:xfrm>
          <a:custGeom>
            <a:avLst/>
            <a:gdLst/>
            <a:ahLst/>
            <a:cxnLst/>
            <a:rect l="l" t="t" r="r" b="b"/>
            <a:pathLst>
              <a:path w="1968804" h="1508614">
                <a:moveTo>
                  <a:pt x="0" y="0"/>
                </a:moveTo>
                <a:lnTo>
                  <a:pt x="1968804" y="0"/>
                </a:lnTo>
                <a:lnTo>
                  <a:pt x="196880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748622" y="8352038"/>
            <a:ext cx="1968804" cy="1508614"/>
          </a:xfrm>
          <a:custGeom>
            <a:avLst/>
            <a:gdLst/>
            <a:ahLst/>
            <a:cxnLst/>
            <a:rect l="l" t="t" r="r" b="b"/>
            <a:pathLst>
              <a:path w="1968804" h="1508614">
                <a:moveTo>
                  <a:pt x="0" y="0"/>
                </a:moveTo>
                <a:lnTo>
                  <a:pt x="1968804" y="0"/>
                </a:lnTo>
                <a:lnTo>
                  <a:pt x="196880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0008086" y="8133399"/>
            <a:ext cx="2187560" cy="1727254"/>
          </a:xfrm>
          <a:custGeom>
            <a:avLst/>
            <a:gdLst/>
            <a:ahLst/>
            <a:cxnLst/>
            <a:rect l="l" t="t" r="r" b="b"/>
            <a:pathLst>
              <a:path w="2187560" h="1727254">
                <a:moveTo>
                  <a:pt x="0" y="0"/>
                </a:moveTo>
                <a:lnTo>
                  <a:pt x="2187560" y="0"/>
                </a:lnTo>
                <a:lnTo>
                  <a:pt x="2187560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3923818" y="7499343"/>
            <a:ext cx="2406316" cy="1934962"/>
          </a:xfrm>
          <a:custGeom>
            <a:avLst/>
            <a:gdLst/>
            <a:ahLst/>
            <a:cxnLst/>
            <a:rect l="l" t="t" r="r" b="b"/>
            <a:pathLst>
              <a:path w="2406316" h="1934962">
                <a:moveTo>
                  <a:pt x="0" y="0"/>
                </a:moveTo>
                <a:lnTo>
                  <a:pt x="2406316" y="0"/>
                </a:lnTo>
                <a:lnTo>
                  <a:pt x="2406316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428410" y="637819"/>
            <a:ext cx="8058178" cy="1134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19"/>
              </a:lnSpc>
            </a:pPr>
            <a:r>
              <a:rPr lang="en-US" sz="8519" b="1">
                <a:solidFill>
                  <a:srgbClr val="F6F6F6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FROM MEMORY GAME TO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12802" y="1625521"/>
            <a:ext cx="9618994" cy="1756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71"/>
              </a:lnSpc>
            </a:pPr>
            <a:r>
              <a:rPr lang="en-US" sz="13171" b="1">
                <a:gradFill>
                  <a:gsLst>
                    <a:gs pos="0">
                      <a:srgbClr val="13A8F0">
                        <a:alpha val="100000"/>
                      </a:srgbClr>
                    </a:gs>
                    <a:gs pos="100000">
                      <a:srgbClr val="7A23E1">
                        <a:alpha val="100000"/>
                      </a:srgbClr>
                    </a:gs>
                  </a:gsLst>
                  <a:lin ang="0"/>
                </a:gradFill>
                <a:latin typeface="Bebas Neue Bold"/>
                <a:ea typeface="Bebas Neue Bold"/>
                <a:cs typeface="Bebas Neue Bold"/>
                <a:sym typeface="Bebas Neue Bold"/>
              </a:rPr>
              <a:t>GAMING PLATFORM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29073" y="3189218"/>
            <a:ext cx="7991894" cy="371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759">
                <a:solidFill>
                  <a:srgbClr val="8F8F8F"/>
                </a:solidFill>
                <a:latin typeface="Roboto"/>
                <a:ea typeface="Roboto"/>
                <a:cs typeface="Roboto"/>
                <a:sym typeface="Roboto"/>
              </a:rPr>
              <a:t>Building the future of interactive memory gaming.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53857" y="4853148"/>
            <a:ext cx="1988105" cy="316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5"/>
              </a:lnSpc>
            </a:pPr>
            <a:r>
              <a:rPr lang="en-US" sz="2335" b="1">
                <a:solidFill>
                  <a:srgbClr val="13A8F0"/>
                </a:solidFill>
                <a:latin typeface="Roboto Bold"/>
                <a:ea typeface="Roboto Bold"/>
                <a:cs typeface="Roboto Bold"/>
                <a:sym typeface="Roboto Bold"/>
              </a:rPr>
              <a:t>ENGAGEMENT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33984" y="5724678"/>
            <a:ext cx="2326642" cy="1122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spc="-60">
                <a:solidFill>
                  <a:srgbClr val="8F8F8F"/>
                </a:solidFill>
                <a:latin typeface="Roboto"/>
                <a:ea typeface="Roboto"/>
                <a:cs typeface="Roboto"/>
                <a:sym typeface="Roboto"/>
              </a:rPr>
              <a:t>Immersive gameplay that keeps players coming back.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154053" y="4776728"/>
            <a:ext cx="1527231" cy="601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5"/>
              </a:lnSpc>
            </a:pPr>
            <a:r>
              <a:rPr lang="en-US" sz="2335" b="1">
                <a:solidFill>
                  <a:srgbClr val="1F79E4"/>
                </a:solidFill>
                <a:latin typeface="Roboto Bold"/>
                <a:ea typeface="Roboto Bold"/>
                <a:cs typeface="Roboto Bold"/>
                <a:sym typeface="Roboto Bold"/>
              </a:rPr>
              <a:t>COGNITIVE</a:t>
            </a:r>
          </a:p>
          <a:p>
            <a:pPr algn="ctr">
              <a:lnSpc>
                <a:spcPts val="2335"/>
              </a:lnSpc>
            </a:pPr>
            <a:r>
              <a:rPr lang="en-US" sz="2335" b="1">
                <a:solidFill>
                  <a:srgbClr val="1F79E4"/>
                </a:solidFill>
                <a:latin typeface="Roboto Bold"/>
                <a:ea typeface="Roboto Bold"/>
                <a:cs typeface="Roboto Bold"/>
                <a:sym typeface="Roboto Bold"/>
              </a:rPr>
              <a:t>TRAINING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051898" y="5724678"/>
            <a:ext cx="2003908" cy="1122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spc="-60">
                <a:solidFill>
                  <a:srgbClr val="8F8F8F"/>
                </a:solidFill>
                <a:latin typeface="Roboto"/>
                <a:ea typeface="Roboto"/>
                <a:cs typeface="Roboto"/>
                <a:sym typeface="Roboto"/>
              </a:rPr>
              <a:t>Sharpen memory,</a:t>
            </a:r>
          </a:p>
          <a:p>
            <a:pPr algn="l">
              <a:lnSpc>
                <a:spcPts val="3071"/>
              </a:lnSpc>
            </a:pPr>
            <a:r>
              <a:rPr lang="en-US" sz="2047" spc="-60">
                <a:solidFill>
                  <a:srgbClr val="8F8F8F"/>
                </a:solidFill>
                <a:latin typeface="Roboto"/>
                <a:ea typeface="Roboto"/>
                <a:cs typeface="Roboto"/>
                <a:sym typeface="Roboto"/>
              </a:rPr>
              <a:t>focus, and pattern recognition.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109914" y="4776728"/>
            <a:ext cx="1616258" cy="601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5"/>
              </a:lnSpc>
            </a:pPr>
            <a:r>
              <a:rPr lang="en-US" sz="2335" b="1">
                <a:solidFill>
                  <a:srgbClr val="5543E2"/>
                </a:solidFill>
                <a:latin typeface="Roboto Bold"/>
                <a:ea typeface="Roboto Bold"/>
                <a:cs typeface="Roboto Bold"/>
                <a:sym typeface="Roboto Bold"/>
              </a:rPr>
              <a:t>TECHNICAL</a:t>
            </a:r>
          </a:p>
          <a:p>
            <a:pPr algn="ctr">
              <a:lnSpc>
                <a:spcPts val="2335"/>
              </a:lnSpc>
            </a:pPr>
            <a:r>
              <a:rPr lang="en-US" sz="2335" b="1">
                <a:solidFill>
                  <a:srgbClr val="5543E2"/>
                </a:solidFill>
                <a:latin typeface="Roboto Bold"/>
                <a:ea typeface="Roboto Bold"/>
                <a:cs typeface="Roboto Bold"/>
                <a:sym typeface="Roboto Bold"/>
              </a:rPr>
              <a:t>VALUE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758902" y="5724678"/>
            <a:ext cx="2318283" cy="1122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1"/>
              </a:lnSpc>
            </a:pPr>
            <a:r>
              <a:rPr lang="en-US" sz="2047" spc="-60">
                <a:solidFill>
                  <a:srgbClr val="8F8F8F"/>
                </a:solidFill>
                <a:latin typeface="Roboto"/>
                <a:ea typeface="Roboto"/>
                <a:cs typeface="Roboto"/>
                <a:sym typeface="Roboto"/>
              </a:rPr>
              <a:t>Real-time systems, analytics, and secure architecture.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998931" y="4862143"/>
            <a:ext cx="1864156" cy="307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</a:pPr>
            <a:r>
              <a:rPr lang="en-US" sz="2377" b="1">
                <a:solidFill>
                  <a:srgbClr val="803FF0"/>
                </a:solidFill>
                <a:latin typeface="Roboto Bold"/>
                <a:ea typeface="Roboto Bold"/>
                <a:cs typeface="Roboto Bold"/>
                <a:sym typeface="Roboto Bold"/>
              </a:rPr>
              <a:t>SCALABILITY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997809" y="5724678"/>
            <a:ext cx="2130046" cy="1122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spc="-60">
                <a:solidFill>
                  <a:srgbClr val="8F8F8F"/>
                </a:solidFill>
                <a:latin typeface="Roboto"/>
                <a:ea typeface="Roboto"/>
                <a:cs typeface="Roboto"/>
                <a:sym typeface="Roboto"/>
              </a:rPr>
              <a:t>Designed to grow</a:t>
            </a:r>
          </a:p>
          <a:p>
            <a:pPr algn="l">
              <a:lnSpc>
                <a:spcPts val="3071"/>
              </a:lnSpc>
            </a:pPr>
            <a:r>
              <a:rPr lang="en-US" sz="2047" spc="-60">
                <a:solidFill>
                  <a:srgbClr val="8F8F8F"/>
                </a:solidFill>
                <a:latin typeface="Roboto"/>
                <a:ea typeface="Roboto"/>
                <a:cs typeface="Roboto"/>
                <a:sym typeface="Roboto"/>
              </a:rPr>
              <a:t>with a global player community.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614246" y="8641815"/>
            <a:ext cx="520370" cy="492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5"/>
              </a:lnSpc>
            </a:pPr>
            <a:r>
              <a:rPr lang="en-US" sz="3735" b="1" spc="-111">
                <a:solidFill>
                  <a:srgbClr val="13A8F0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82202" y="9194593"/>
            <a:ext cx="1745345" cy="244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4"/>
              </a:lnSpc>
            </a:pPr>
            <a:r>
              <a:rPr lang="en-US" sz="1705" b="1" spc="-50">
                <a:solidFill>
                  <a:srgbClr val="8F8F8F"/>
                </a:solidFill>
                <a:latin typeface="Roboto Bold"/>
                <a:ea typeface="Roboto Bold"/>
                <a:cs typeface="Roboto Bold"/>
                <a:sym typeface="Roboto Bold"/>
              </a:rPr>
              <a:t>AUTHENTICATION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587832" y="8581572"/>
            <a:ext cx="520370" cy="492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5"/>
              </a:lnSpc>
            </a:pPr>
            <a:r>
              <a:rPr lang="en-US" sz="3735" b="1" spc="-111">
                <a:solidFill>
                  <a:srgbClr val="13A8F0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163975" y="9073588"/>
            <a:ext cx="1281823" cy="448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20"/>
              </a:lnSpc>
            </a:pPr>
            <a:r>
              <a:rPr lang="en-US" sz="1564" b="1" spc="-46">
                <a:solidFill>
                  <a:srgbClr val="8F8F8F"/>
                </a:solidFill>
                <a:latin typeface="Roboto Bold"/>
                <a:ea typeface="Roboto Bold"/>
                <a:cs typeface="Roboto Bold"/>
                <a:sym typeface="Roboto Bold"/>
              </a:rPr>
              <a:t>ONLINE</a:t>
            </a:r>
          </a:p>
          <a:p>
            <a:pPr algn="ctr">
              <a:lnSpc>
                <a:spcPts val="1720"/>
              </a:lnSpc>
            </a:pPr>
            <a:r>
              <a:rPr lang="en-US" sz="1564" b="1" spc="-46">
                <a:solidFill>
                  <a:srgbClr val="8F8F8F"/>
                </a:solidFill>
                <a:latin typeface="Roboto Bold"/>
                <a:ea typeface="Roboto Bold"/>
                <a:cs typeface="Roboto Bold"/>
                <a:sym typeface="Roboto Bold"/>
              </a:rPr>
              <a:t>MULTIPLAYER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140788" y="9073588"/>
            <a:ext cx="1328946" cy="448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20"/>
              </a:lnSpc>
            </a:pPr>
            <a:r>
              <a:rPr lang="en-US" sz="1564" b="1" spc="-46">
                <a:solidFill>
                  <a:srgbClr val="8F8F8F"/>
                </a:solidFill>
                <a:latin typeface="Roboto Bold"/>
                <a:ea typeface="Roboto Bold"/>
                <a:cs typeface="Roboto Bold"/>
                <a:sym typeface="Roboto Bold"/>
              </a:rPr>
              <a:t>GLOBAL</a:t>
            </a:r>
          </a:p>
          <a:p>
            <a:pPr algn="ctr">
              <a:lnSpc>
                <a:spcPts val="1720"/>
              </a:lnSpc>
            </a:pPr>
            <a:r>
              <a:rPr lang="en-US" sz="1564" b="1" spc="-46">
                <a:solidFill>
                  <a:srgbClr val="8F8F8F"/>
                </a:solidFill>
                <a:latin typeface="Roboto Bold"/>
                <a:ea typeface="Roboto Bold"/>
                <a:cs typeface="Roboto Bold"/>
                <a:sym typeface="Roboto Bold"/>
              </a:rPr>
              <a:t>LEADERBOARD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560865" y="9073308"/>
            <a:ext cx="1155520" cy="448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68"/>
              </a:lnSpc>
            </a:pPr>
            <a:r>
              <a:rPr lang="en-US" sz="1608" b="1" spc="-47">
                <a:solidFill>
                  <a:srgbClr val="8F8F8F"/>
                </a:solidFill>
                <a:latin typeface="Roboto Bold"/>
                <a:ea typeface="Roboto Bold"/>
                <a:cs typeface="Roboto Bold"/>
                <a:sym typeface="Roboto Bold"/>
              </a:rPr>
              <a:t>AI ADAPTIVE</a:t>
            </a:r>
          </a:p>
          <a:p>
            <a:pPr algn="ctr">
              <a:lnSpc>
                <a:spcPts val="1768"/>
              </a:lnSpc>
            </a:pPr>
            <a:r>
              <a:rPr lang="en-US" sz="1608" b="1" spc="-47">
                <a:solidFill>
                  <a:srgbClr val="8F8F8F"/>
                </a:solidFill>
                <a:latin typeface="Roboto Bold"/>
                <a:ea typeface="Roboto Bold"/>
                <a:cs typeface="Roboto Bold"/>
                <a:sym typeface="Roboto Bold"/>
              </a:rPr>
              <a:t>DIFFICULTY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914663" y="7823887"/>
            <a:ext cx="624481" cy="609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8"/>
              </a:lnSpc>
            </a:pPr>
            <a:r>
              <a:rPr lang="en-US" sz="4508" b="1" spc="-134">
                <a:solidFill>
                  <a:srgbClr val="803FF0"/>
                </a:solidFill>
                <a:latin typeface="Roboto Bold"/>
                <a:ea typeface="Roboto Bold"/>
                <a:cs typeface="Roboto Bold"/>
                <a:sym typeface="Roboto Bold"/>
              </a:rPr>
              <a:t>05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439305" y="8437261"/>
            <a:ext cx="1607344" cy="626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9"/>
              </a:lnSpc>
            </a:pPr>
            <a:r>
              <a:rPr lang="en-US" sz="2254" b="1" spc="-67">
                <a:solidFill>
                  <a:srgbClr val="8F8F8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MOBILE</a:t>
            </a:r>
          </a:p>
          <a:p>
            <a:pPr algn="ctr">
              <a:lnSpc>
                <a:spcPts val="2479"/>
              </a:lnSpc>
            </a:pPr>
            <a:r>
              <a:rPr lang="en-US" sz="2254" b="1" spc="-67">
                <a:solidFill>
                  <a:srgbClr val="8F8F8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APP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882190" y="8551450"/>
            <a:ext cx="520370" cy="492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5"/>
              </a:lnSpc>
            </a:pPr>
            <a:r>
              <a:rPr lang="en-US" sz="3735" b="1" spc="-111">
                <a:solidFill>
                  <a:srgbClr val="5543E2"/>
                </a:solidFill>
                <a:latin typeface="Roboto Bold"/>
                <a:ea typeface="Roboto Bold"/>
                <a:cs typeface="Roboto Bold"/>
                <a:sym typeface="Roboto Bold"/>
              </a:rPr>
              <a:t>04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561418" y="8581572"/>
            <a:ext cx="520370" cy="492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5"/>
              </a:lnSpc>
            </a:pPr>
            <a:r>
              <a:rPr lang="en-US" sz="3735" b="1" spc="-111">
                <a:solidFill>
                  <a:srgbClr val="5543E2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329</Words>
  <Application>Microsoft Office PowerPoint</Application>
  <PresentationFormat>Custom</PresentationFormat>
  <Paragraphs>100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Roboto Bold</vt:lpstr>
      <vt:lpstr>Bebas Neue Bold</vt:lpstr>
      <vt:lpstr>Calibri</vt:lpstr>
      <vt:lpstr>Bebas Neue</vt:lpstr>
      <vt:lpstr>Roboto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Memory Nexus</dc:title>
  <cp:lastModifiedBy>nayab poswal</cp:lastModifiedBy>
  <cp:revision>5</cp:revision>
  <dcterms:created xsi:type="dcterms:W3CDTF">2006-08-16T00:00:00Z</dcterms:created>
  <dcterms:modified xsi:type="dcterms:W3CDTF">2026-10-05T07:24:41Z</dcterms:modified>
  <dc:identifier>DAHXHfg6Dmc</dc:identifier>
</cp:coreProperties>
</file>